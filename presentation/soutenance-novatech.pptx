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cvRS38BqmuvDH/Nn41V4wPt5B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7678EE-1A2B-4941-BE5E-3F00497CAEEE}">
  <a:tblStyle styleId="{F47678EE-1A2B-4941-BE5E-3F00497CAEE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présenter rapidement. Citer la demande de la direction. Préciser que tout a été fait en local. Morgan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Annoncer le plan en une phrase : d'abord le contexte et le diagnostic, puis notre démarche et nos tests, enfin les résultats et notre proposition. Morgan</a:t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 fait par dimension. Appuyer sur les 80 %. Dire que c'est une hypothèse : il manque les logs et la cause de l'incident. Nicolas</a:t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Origine en une phrase. Notre définition sans outil. Knight Capital comme contre-exemple. Nicolas</a:t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 = Ne pas blâmer, A = Automatiser les tâches, L = Supprimer les étapes inutiles, M = Utiliser des métriques (DORA), S = Encourager le partage Romain</a:t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Une phrase par bloc. Montrer le Kanban si on a le temps. Romain</a:t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Suivre les flèches. Annoncer que la démo montre cette chaîne. Morgan</a:t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 réussites d'abord, puis les échecs franchement. Les détails seront visibles pendant la démo. Morgan</a:t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Données fictives sur 30 jours. Un chiffre seul ne juge pas une équipe. PDCA : tester la validation quotidienne pendant 2 semaines. Romain</a:t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Lire colonne par colonne. Dire ce qui est testé et ce qui est proposé. Aucun budget inventé. Nicolas</a:t>
            </a:r>
            <a:endParaRPr/>
          </a:p>
        </p:txBody>
      </p:sp>
      <p:sp>
        <p:nvSpPr>
          <p:cNvPr id="283" name="Google Shape;2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Chacun peut prendre un mot. Terminer sur la recommandation, puis passer aux questions. Morgan</a:t>
            </a:r>
            <a:endParaRPr/>
          </a:p>
        </p:txBody>
      </p:sp>
      <p:sp>
        <p:nvSpPr>
          <p:cNvPr id="294" name="Google Shape;2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a745ef5baeb99a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ha745ef5baeb99a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Chacun peut prendre un mot. Terminer sur la recommandation, puis passer aux questions. Nicolas</a:t>
            </a:r>
            <a:endParaRPr/>
          </a:p>
        </p:txBody>
      </p:sp>
      <p:sp>
        <p:nvSpPr>
          <p:cNvPr id="309" name="Google Shape;309;ha745ef5baeb99a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rgbClr val="14213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  <a:defRPr b="1" i="0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  <a:defRPr b="1" i="0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4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Arial"/>
              <a:buNone/>
              <a:defRPr b="0" i="1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KWDtVQww3xY2qY_ZAywTsGE7-vjJAMZv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>
            <p:ph type="title"/>
          </p:nvPr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Qui sommes-nous ? Quelle est la mission de NovaTech ?</a:t>
            </a:r>
            <a:endParaRPr sz="3000"/>
          </a:p>
        </p:txBody>
      </p:sp>
      <p:sp>
        <p:nvSpPr>
          <p:cNvPr id="25" name="Google Shape;25;p1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143000" y="21031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Nicolas.P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606040" y="2103120"/>
            <a:ext cx="502920" cy="50292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260604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3200400" y="21031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Adam.B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5257800" y="21031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Romain.D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720840" y="2103120"/>
            <a:ext cx="502920" cy="50292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672084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7315200" y="21031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Morgan.R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direction de NovaTech, plateforme de commerce en ligne (cas fictif)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>
            <p:ph idx="4294967295" type="sldNum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B6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/>
          <p:nvPr>
            <p:ph type="title"/>
          </p:nvPr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Sommaire</a:t>
            </a:r>
            <a:endParaRPr sz="3000"/>
          </a:p>
        </p:txBody>
      </p:sp>
      <p:sp>
        <p:nvSpPr>
          <p:cNvPr id="45" name="Google Shape;45;p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118872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548640" y="24688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1097280" y="2468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Diagnostic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548640" y="2971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097280" y="29718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Pourquoi DevOps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291840" y="1691640"/>
            <a:ext cx="502920" cy="50292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3291840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393192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Démarche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3291840" y="24688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3840480" y="2468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Ways et CALMS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3291840" y="2971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3840480" y="29718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Organisation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91840" y="3474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840480" y="34747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Chaîne technique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3291840" y="397764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840480" y="39776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expérimentations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035040" y="1691640"/>
            <a:ext cx="502920" cy="502920"/>
          </a:xfrm>
          <a:prstGeom prst="ellipse">
            <a:avLst/>
          </a:prstGeom>
          <a:solidFill>
            <a:srgbClr val="F4A259"/>
          </a:solidFill>
          <a:ln cap="flat" cmpd="sng" w="12700">
            <a:solidFill>
              <a:srgbClr val="F4A2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6035040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667512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Résultats et 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6035040" y="24688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5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A25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6583680" y="2468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Mesures DORA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6035040" y="2971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5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A25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6583680" y="29718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30/60/90 jours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6035040" y="34747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5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A25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6583680" y="34747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>
            <p:ph idx="4294967295" type="sldNum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B6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02 · Diagnostic des problèmes Business, IT, culture et organisation</a:t>
            </a:r>
            <a:endParaRPr sz="2200"/>
          </a:p>
        </p:txBody>
      </p:sp>
      <p:sp>
        <p:nvSpPr>
          <p:cNvPr id="79" name="Google Shape;79;p3"/>
          <p:cNvSpPr/>
          <p:nvPr/>
        </p:nvSpPr>
        <p:spPr>
          <a:xfrm>
            <a:off x="457200" y="1005840"/>
            <a:ext cx="2743200" cy="2651760"/>
          </a:xfrm>
          <a:prstGeom prst="roundRect">
            <a:avLst>
              <a:gd fmla="val 2759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640080" y="128016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80 %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640080" y="237744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B6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rPr>
              <a:t>du délai de livraison est de l'attente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3474720" y="10058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4937760" y="10058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Livraisons en retard pour les campagnes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474720" y="16916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4937760" y="16916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Incident du 16/10 : 95 min de panne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3474720" y="23774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Culture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4937760" y="23774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L'Ops découvre les changements la veille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3474720" y="30632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Organisation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4937760" y="30632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36 h d'attente pour valider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Hypothèse : le blocage est organisationnel, pas technique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None/>
            </a:pPr>
            <a:r>
              <a:rPr i="1" lang="en-US" sz="1000">
                <a:solidFill>
                  <a:srgbClr val="5C6B7A"/>
                </a:solidFill>
              </a:rPr>
              <a:t>Preuves : novatech/diagnostic.md, donnees-novatech/, recherches/module-01</a:t>
            </a:r>
            <a:endParaRPr sz="1000"/>
          </a:p>
        </p:txBody>
      </p:sp>
      <p:sp>
        <p:nvSpPr>
          <p:cNvPr id="93" name="Google Shape;93;p3"/>
          <p:cNvSpPr txBox="1"/>
          <p:nvPr>
            <p:ph idx="4294967295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03 · Origine, définition et valeur de DevOps</a:t>
            </a:r>
            <a:endParaRPr sz="2200"/>
          </a:p>
        </p:txBody>
      </p:sp>
      <p:sp>
        <p:nvSpPr>
          <p:cNvPr id="100" name="Google Shape;100;p4"/>
          <p:cNvSpPr/>
          <p:nvPr/>
        </p:nvSpPr>
        <p:spPr>
          <a:xfrm>
            <a:off x="457200" y="100584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463040" y="1188720"/>
            <a:ext cx="594360" cy="59436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146304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640080" y="1920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Origine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640080" y="242316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2009 : premier DevOpsDays à Gand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46120" y="100584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251960" y="1188720"/>
            <a:ext cx="594360" cy="594360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425196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3429000" y="1920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Définition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3429000" y="242316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Une culture pour livrer souvent, sans casser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035040" y="100584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040880" y="1188720"/>
            <a:ext cx="594360" cy="59436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704088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6217920" y="1920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Valeur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217920" y="242316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Plus vite, plus stable, moins de conflits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Knight Capital, 2012 : un serveur oublié, 460 M$ perdus en 45 min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None/>
            </a:pPr>
            <a:r>
              <a:rPr i="1" lang="en-US" sz="1000">
                <a:solidFill>
                  <a:srgbClr val="5C6B7A"/>
                </a:solidFill>
              </a:rPr>
              <a:t>Preuves : recherches/module-01 à 03 ; SEC 2013</a:t>
            </a:r>
            <a:endParaRPr sz="1000"/>
          </a:p>
        </p:txBody>
      </p:sp>
      <p:sp>
        <p:nvSpPr>
          <p:cNvPr id="118" name="Google Shape;118;p4"/>
          <p:cNvSpPr txBox="1"/>
          <p:nvPr>
            <p:ph idx="4294967295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04 · Three Ways et CALMS appliqués à NovaTech</a:t>
            </a:r>
            <a:endParaRPr sz="2200"/>
          </a:p>
        </p:txBody>
      </p:sp>
      <p:sp>
        <p:nvSpPr>
          <p:cNvPr id="125" name="Google Shape;125;p5"/>
          <p:cNvSpPr/>
          <p:nvPr/>
        </p:nvSpPr>
        <p:spPr>
          <a:xfrm>
            <a:off x="457200" y="1005840"/>
            <a:ext cx="3749040" cy="777240"/>
          </a:xfrm>
          <a:prstGeom prst="roundRect">
            <a:avLst>
              <a:gd fmla="val 9412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640080" y="1005840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920240" y="100584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Réduire l'attente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1920240"/>
            <a:ext cx="3749040" cy="777240"/>
          </a:xfrm>
          <a:prstGeom prst="roundRect">
            <a:avLst>
              <a:gd fmla="val 9412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640080" y="1920240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1920240" y="192024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Voir l'erreur avant le client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2834640"/>
            <a:ext cx="3749040" cy="777240"/>
          </a:xfrm>
          <a:prstGeom prst="roundRect">
            <a:avLst>
              <a:gd fmla="val 9412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640080" y="2834640"/>
            <a:ext cx="1280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Apprendre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920240" y="283464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Revue sans blâme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72000" y="1005840"/>
            <a:ext cx="438912" cy="438912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4572000" y="100584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5166360" y="1005840"/>
            <a:ext cx="3520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Culture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0" y="1554480"/>
            <a:ext cx="438912" cy="438912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4572000" y="155448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166360" y="1554480"/>
            <a:ext cx="3520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572000" y="2103120"/>
            <a:ext cx="438912" cy="438912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4572000" y="21031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5166360" y="2103120"/>
            <a:ext cx="3520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Lean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572000" y="2651760"/>
            <a:ext cx="438912" cy="438912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4572000" y="26517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166360" y="2651760"/>
            <a:ext cx="3520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Measurement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72000" y="3200400"/>
            <a:ext cx="438912" cy="438912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4572000" y="32004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5166360" y="3200400"/>
            <a:ext cx="3520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Sharing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 action concrète par principe, pas juste des définitions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None/>
            </a:pPr>
            <a:r>
              <a:rPr i="1" lang="en-US" sz="1000">
                <a:solidFill>
                  <a:srgbClr val="5C6B7A"/>
                </a:solidFill>
              </a:rPr>
              <a:t>Preuves : novatech/value-stream-map.md, novatech/analyse-calms.md</a:t>
            </a:r>
            <a:endParaRPr sz="1000"/>
          </a:p>
        </p:txBody>
      </p:sp>
      <p:sp>
        <p:nvSpPr>
          <p:cNvPr id="152" name="Google Shape;152;p5"/>
          <p:cNvSpPr txBox="1"/>
          <p:nvPr>
            <p:ph idx="4294967295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05 · Culture, Agile/Lean/ITSM, Kanban et ChatOps</a:t>
            </a:r>
            <a:endParaRPr sz="2200"/>
          </a:p>
        </p:txBody>
      </p:sp>
      <p:sp>
        <p:nvSpPr>
          <p:cNvPr id="159" name="Google Shape;159;p6"/>
          <p:cNvSpPr/>
          <p:nvPr/>
        </p:nvSpPr>
        <p:spPr>
          <a:xfrm>
            <a:off x="457200" y="1005840"/>
            <a:ext cx="1508760" cy="2651760"/>
          </a:xfrm>
          <a:prstGeom prst="roundRect">
            <a:avLst>
              <a:gd fmla="val 4848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914400" y="1188720"/>
            <a:ext cx="594360" cy="59436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91440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548640" y="192024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Culture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548640" y="2423160"/>
            <a:ext cx="1325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Le droit à l'erreur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130552" y="1005840"/>
            <a:ext cx="1508760" cy="2651760"/>
          </a:xfrm>
          <a:prstGeom prst="roundRect">
            <a:avLst>
              <a:gd fmla="val 4848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2587752" y="1188720"/>
            <a:ext cx="594360" cy="59436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2587752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2221992" y="192024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Agile / Lean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2221992" y="2423160"/>
            <a:ext cx="1325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Livrer petit, chasser l'attente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803904" y="1005840"/>
            <a:ext cx="1508760" cy="2651760"/>
          </a:xfrm>
          <a:prstGeom prst="roundRect">
            <a:avLst>
              <a:gd fmla="val 4848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261104" y="1188720"/>
            <a:ext cx="594360" cy="594360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4261104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3895344" y="192024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ITSM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3895344" y="2423160"/>
            <a:ext cx="1325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Contrôle adapté au risque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477256" y="1005840"/>
            <a:ext cx="1508760" cy="2651760"/>
          </a:xfrm>
          <a:prstGeom prst="roundRect">
            <a:avLst>
              <a:gd fmla="val 4848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934456" y="1188720"/>
            <a:ext cx="594360" cy="594360"/>
          </a:xfrm>
          <a:prstGeom prst="ellipse">
            <a:avLst/>
          </a:prstGeom>
          <a:solidFill>
            <a:srgbClr val="F4A259"/>
          </a:solidFill>
          <a:ln cap="flat" cmpd="sng" w="12700">
            <a:solidFill>
              <a:srgbClr val="F4A2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5934456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568696" y="192024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Kanban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5568696" y="2423160"/>
            <a:ext cx="1325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Notre tableau, WIP limité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150608" y="1005840"/>
            <a:ext cx="1508760" cy="2651760"/>
          </a:xfrm>
          <a:prstGeom prst="roundRect">
            <a:avLst>
              <a:gd fmla="val 4848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7607808" y="1188720"/>
            <a:ext cx="594360" cy="594360"/>
          </a:xfrm>
          <a:prstGeom prst="ellipse">
            <a:avLst/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7607808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7242048" y="192024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ChatOps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7242048" y="2423160"/>
            <a:ext cx="1325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Alerte seulement si échec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Ces approches se complètent, elles ne s'opposent pas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None/>
            </a:pPr>
            <a:r>
              <a:rPr i="1" lang="en-US" sz="1000">
                <a:solidFill>
                  <a:srgbClr val="5C6B7A"/>
                </a:solidFill>
              </a:rPr>
              <a:t>Preuves : recherches/module-03 et 04, tableau Kanban GitHub</a:t>
            </a:r>
            <a:endParaRPr sz="1000"/>
          </a:p>
        </p:txBody>
      </p:sp>
      <p:sp>
        <p:nvSpPr>
          <p:cNvPr id="187" name="Google Shape;187;p6"/>
          <p:cNvSpPr txBox="1"/>
          <p:nvPr>
            <p:ph idx="4294967295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06 · Git, CI/CD, DevSecOps et Infrastructure as Code</a:t>
            </a:r>
            <a:endParaRPr sz="2200"/>
          </a:p>
        </p:txBody>
      </p:sp>
      <p:sp>
        <p:nvSpPr>
          <p:cNvPr id="194" name="Google Shape;194;p7"/>
          <p:cNvSpPr/>
          <p:nvPr/>
        </p:nvSpPr>
        <p:spPr>
          <a:xfrm>
            <a:off x="457200" y="1188720"/>
            <a:ext cx="1463040" cy="1463040"/>
          </a:xfrm>
          <a:prstGeom prst="roundRect">
            <a:avLst>
              <a:gd fmla="val 5000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548640" y="13258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548640" y="192024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 branche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947672" y="1819656"/>
            <a:ext cx="1828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6B7A"/>
          </a:solidFill>
          <a:ln cap="flat" cmpd="sng" w="1270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2157984" y="1188720"/>
            <a:ext cx="1463040" cy="1463040"/>
          </a:xfrm>
          <a:prstGeom prst="roundRect">
            <a:avLst>
              <a:gd fmla="val 5000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2249424" y="13258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2249424" y="192024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 relecture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648456" y="1819656"/>
            <a:ext cx="1828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6B7A"/>
          </a:solidFill>
          <a:ln cap="flat" cmpd="sng" w="1270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858768" y="1188720"/>
            <a:ext cx="1463040" cy="1463040"/>
          </a:xfrm>
          <a:prstGeom prst="roundRect">
            <a:avLst>
              <a:gd fmla="val 5000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3950208" y="13258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3950208" y="192024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 auto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349240" y="1819656"/>
            <a:ext cx="1828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6B7A"/>
          </a:solidFill>
          <a:ln cap="flat" cmpd="sng" w="1270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559552" y="1188720"/>
            <a:ext cx="1463040" cy="1463040"/>
          </a:xfrm>
          <a:prstGeom prst="roundRect">
            <a:avLst>
              <a:gd fmla="val 5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5650992" y="13258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Sécurité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5650992" y="192024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 de secrets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050024" y="1819656"/>
            <a:ext cx="1828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6B7A"/>
          </a:solidFill>
          <a:ln cap="flat" cmpd="sng" w="12700">
            <a:solidFill>
              <a:srgbClr val="5C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260336" y="1188720"/>
            <a:ext cx="1463040" cy="1463040"/>
          </a:xfrm>
          <a:prstGeom prst="roundRect">
            <a:avLst>
              <a:gd fmla="val 5000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7351776" y="13258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7351776" y="192024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Le chemin d'un changement, du code jusqu'à l'environnement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 NovaTech : livraison continue, la décision finale reste humaine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None/>
            </a:pPr>
            <a:r>
              <a:rPr i="1" lang="en-US" sz="1000">
                <a:solidFill>
                  <a:srgbClr val="5C6B7A"/>
                </a:solidFill>
              </a:rPr>
              <a:t>Preuves : .github/workflows/ci.yml, application/compose.yaml, application/Dockerfile</a:t>
            </a:r>
            <a:endParaRPr sz="1000"/>
          </a:p>
        </p:txBody>
      </p:sp>
      <p:sp>
        <p:nvSpPr>
          <p:cNvPr id="217" name="Google Shape;217;p7"/>
          <p:cNvSpPr txBox="1"/>
          <p:nvPr>
            <p:ph idx="4294967295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07 · Nos expérimentations : réussites, échecs, preuves</a:t>
            </a:r>
            <a:endParaRPr sz="2200"/>
          </a:p>
        </p:txBody>
      </p:sp>
      <p:sp>
        <p:nvSpPr>
          <p:cNvPr id="224" name="Google Shape;224;p8"/>
          <p:cNvSpPr/>
          <p:nvPr/>
        </p:nvSpPr>
        <p:spPr>
          <a:xfrm>
            <a:off x="457200" y="100584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463040" y="1188720"/>
            <a:ext cx="594360" cy="594360"/>
          </a:xfrm>
          <a:prstGeom prst="ellipse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146304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640080" y="1920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Réussites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640080" y="242316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CI rouge puis verte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Docker healthy</a:t>
            </a:r>
            <a:endParaRPr b="0" i="0" sz="1600" u="none" cap="none" strike="noStrike">
              <a:solidFill>
                <a:srgbClr val="1B2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ChatOps / WebHook</a:t>
            </a:r>
            <a:endParaRPr sz="1600">
              <a:solidFill>
                <a:srgbClr val="1B2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246120" y="100584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251960" y="1188720"/>
            <a:ext cx="594360" cy="594360"/>
          </a:xfrm>
          <a:prstGeom prst="ellipse">
            <a:avLst/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425196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3429000" y="1920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Échecs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3429000" y="242316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035040" y="100584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7040880" y="1188720"/>
            <a:ext cx="594360" cy="594360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704088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6217920" y="192024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Preuves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6217920" y="242316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Captures, runs GitHub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preuves/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 erreur est détectée en quelques secondes, avant la production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None/>
            </a:pPr>
            <a:r>
              <a:rPr i="1" lang="en-US" sz="1000">
                <a:solidFill>
                  <a:srgbClr val="5C6B7A"/>
                </a:solidFill>
              </a:rPr>
              <a:t>Preuves : captures dans application/, GitHub Actions, preuves/tp5-docker.md</a:t>
            </a:r>
            <a:endParaRPr sz="1000"/>
          </a:p>
        </p:txBody>
      </p:sp>
      <p:sp>
        <p:nvSpPr>
          <p:cNvPr id="242" name="Google Shape;242;p8"/>
          <p:cNvSpPr txBox="1"/>
          <p:nvPr>
            <p:ph idx="4294967295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08 · Cinq métriques DORA, observabilité, feedback et PDCA</a:t>
            </a:r>
            <a:endParaRPr sz="2200"/>
          </a:p>
        </p:txBody>
      </p:sp>
      <p:sp>
        <p:nvSpPr>
          <p:cNvPr id="249" name="Google Shape;249;p9"/>
          <p:cNvSpPr/>
          <p:nvPr/>
        </p:nvSpPr>
        <p:spPr>
          <a:xfrm>
            <a:off x="457200" y="100584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548640" y="1097280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E9AA7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548640" y="182880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déploiements / mois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2130552" y="100584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 txBox="1"/>
          <p:nvPr/>
        </p:nvSpPr>
        <p:spPr>
          <a:xfrm>
            <a:off x="2221992" y="1097280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E9AA7"/>
                </a:solidFill>
                <a:latin typeface="Cambria"/>
                <a:ea typeface="Cambria"/>
                <a:cs typeface="Cambria"/>
                <a:sym typeface="Cambria"/>
              </a:rPr>
              <a:t>55 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2221992" y="182880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lead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803904" y="100584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3895344" y="1097280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572E"/>
                </a:solidFill>
                <a:latin typeface="Cambria"/>
                <a:ea typeface="Cambria"/>
                <a:cs typeface="Cambria"/>
                <a:sym typeface="Cambria"/>
              </a:rPr>
              <a:t>15 %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3895344" y="182880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échecs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477256" y="100584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5568696" y="1097280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572E"/>
                </a:solidFill>
                <a:latin typeface="Cambria"/>
                <a:ea typeface="Cambria"/>
                <a:cs typeface="Cambria"/>
                <a:sym typeface="Cambria"/>
              </a:rPr>
              <a:t>10 %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568696" y="182880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corrections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7150608" y="1005840"/>
            <a:ext cx="1508760" cy="1371600"/>
          </a:xfrm>
          <a:prstGeom prst="roundRect">
            <a:avLst>
              <a:gd fmla="val 5333" name="adj"/>
            </a:avLst>
          </a:prstGeom>
          <a:solidFill>
            <a:srgbClr val="EEF2F6"/>
          </a:solidFill>
          <a:ln cap="flat" cmpd="sng" w="12700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7242048" y="1097280"/>
            <a:ext cx="1325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4572E"/>
                </a:solidFill>
                <a:latin typeface="Cambria"/>
                <a:ea typeface="Cambria"/>
                <a:cs typeface="Cambria"/>
                <a:sym typeface="Cambria"/>
              </a:rPr>
              <a:t>95 min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7242048" y="182880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333"/>
                </a:solidFill>
                <a:latin typeface="Calibri"/>
                <a:ea typeface="Calibri"/>
                <a:cs typeface="Calibri"/>
                <a:sym typeface="Calibri"/>
              </a:rPr>
              <a:t>rétablissement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1097280" y="274320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2560320" y="2743200"/>
            <a:ext cx="548640" cy="548640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256032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3200400" y="274320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663440" y="2743200"/>
            <a:ext cx="548640" cy="548640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466344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5303520" y="274320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766560" y="2743200"/>
            <a:ext cx="548640" cy="548640"/>
          </a:xfrm>
          <a:prstGeom prst="ellipse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676656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7406640" y="274320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Observer (logs, métriques, traces), mesurer, puis améliorer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None/>
            </a:pPr>
            <a:r>
              <a:rPr i="1" lang="en-US" sz="1000">
                <a:solidFill>
                  <a:srgbClr val="5C6B7A"/>
                </a:solidFill>
              </a:rPr>
              <a:t>Preuves : novatech/indicateurs-dora.md, donnees-novatech/04_Deploiements_fictifs.csv</a:t>
            </a:r>
            <a:endParaRPr sz="1000"/>
          </a:p>
        </p:txBody>
      </p:sp>
      <p:sp>
        <p:nvSpPr>
          <p:cNvPr id="279" name="Google Shape;279;p9"/>
          <p:cNvSpPr txBox="1"/>
          <p:nvPr>
            <p:ph idx="4294967295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09 · Proposition de transformation NovaTech 30/60/90 jours</a:t>
            </a:r>
            <a:endParaRPr sz="2200"/>
          </a:p>
        </p:txBody>
      </p:sp>
      <p:graphicFrame>
        <p:nvGraphicFramePr>
          <p:cNvPr id="286" name="Google Shape;286;p10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{F47678EE-1A2B-4941-BE5E-3F00497CAEEE}</a:tableStyleId>
              </a:tblPr>
              <a:tblGrid>
                <a:gridCol w="13716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30 jours</a:t>
                      </a:r>
                      <a:endParaRPr sz="15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60 jours</a:t>
                      </a:r>
                      <a:endParaRPr sz="15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90 jours</a:t>
                      </a:r>
                      <a:endParaRPr sz="15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9AA7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E9AA7"/>
                          </a:solidFill>
                        </a:rPr>
                        <a:t>Culture</a:t>
                      </a:r>
                      <a:endParaRPr sz="15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Revue sans blâme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Ops dès la planification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Bilan avec les équipes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9AA7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E9AA7"/>
                          </a:solidFill>
                        </a:rPr>
                        <a:t>Processus</a:t>
                      </a:r>
                      <a:endParaRPr sz="15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Pilote de validation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Comité pour le paiement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Revue DORA mensuelle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9AA7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E9AA7"/>
                          </a:solidFill>
                        </a:rPr>
                        <a:t>Outils</a:t>
                      </a:r>
                      <a:endParaRPr sz="15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Tests et scan sur PR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Environnement Compose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33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2333"/>
                          </a:solidFill>
                        </a:rPr>
                        <a:t>Retour arrière testé</a:t>
                      </a:r>
                      <a:endParaRPr sz="1400" u="none" cap="none" strike="noStrike"/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p10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Commencer petit, mesurer, arrêter si les échecs augmentent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>
            <p:ph idx="1" type="body"/>
          </p:nvPr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None/>
            </a:pPr>
            <a:r>
              <a:rPr i="1" lang="en-US" sz="1000">
                <a:solidFill>
                  <a:srgbClr val="5C6B7A"/>
                </a:solidFill>
              </a:rPr>
              <a:t>Preuves : novatech/feuille-de-route.md, recherches/module-08</a:t>
            </a:r>
            <a:endParaRPr sz="1000"/>
          </a:p>
        </p:txBody>
      </p:sp>
      <p:sp>
        <p:nvSpPr>
          <p:cNvPr id="290" name="Google Shape;290;p10"/>
          <p:cNvSpPr txBox="1"/>
          <p:nvPr>
            <p:ph idx="4294967295" type="sldNum"/>
          </p:nvPr>
        </p:nvSpPr>
        <p:spPr>
          <a:xfrm>
            <a:off x="8321040" y="4709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 txBox="1"/>
          <p:nvPr>
            <p:ph type="title"/>
          </p:nvPr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Bilan, limites, décisions et apprentissages (dont IA)</a:t>
            </a:r>
            <a:endParaRPr sz="3000"/>
          </a:p>
        </p:txBody>
      </p:sp>
      <p:sp>
        <p:nvSpPr>
          <p:cNvPr id="297" name="Google Shape;297;p11"/>
          <p:cNvSpPr txBox="1"/>
          <p:nvPr/>
        </p:nvSpPr>
        <p:spPr>
          <a:xfrm>
            <a:off x="548640" y="219456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Appris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 txBox="1"/>
          <p:nvPr/>
        </p:nvSpPr>
        <p:spPr>
          <a:xfrm>
            <a:off x="548640" y="2606040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culture avant les outils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2606040" y="219456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Décidé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2606040" y="2606040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S'organiser dès le jour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4663440" y="219456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Limites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4663440" y="2606040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 fictif, tests en local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6720840" y="219456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9AA7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6720840" y="2606040"/>
            <a:ext cx="1874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Rédaction et sources vérifiées + présentation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 txBox="1"/>
          <p:nvPr>
            <p:ph idx="4294967295" type="sldNum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B6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a745ef5baeb99a7_0_0"/>
          <p:cNvSpPr txBox="1"/>
          <p:nvPr>
            <p:ph type="title"/>
          </p:nvPr>
        </p:nvSpPr>
        <p:spPr>
          <a:xfrm>
            <a:off x="548690" y="2068810"/>
            <a:ext cx="8046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/>
              <a:t>Démonstration : ChatOps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Vidéo</a:t>
            </a:r>
            <a:endParaRPr/>
          </a:p>
        </p:txBody>
      </p:sp>
      <p:sp>
        <p:nvSpPr>
          <p:cNvPr id="312" name="Google Shape;312;ha745ef5baeb99a7_0_0"/>
          <p:cNvSpPr txBox="1"/>
          <p:nvPr>
            <p:ph idx="4294967295" type="sldNum"/>
          </p:nvPr>
        </p:nvSpPr>
        <p:spPr>
          <a:xfrm>
            <a:off x="8321040" y="475488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8AB6D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8AB6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vaTech DevOps">
  <a:themeElements>
    <a:clrScheme name="NovaTech DevOps">
      <a:dk1>
        <a:srgbClr val="1B2333"/>
      </a:dk1>
      <a:lt1>
        <a:srgbClr val="FFFFFF"/>
      </a:lt1>
      <a:dk2>
        <a:srgbClr val="14213D"/>
      </a:dk2>
      <a:lt2>
        <a:srgbClr val="EEF2F6"/>
      </a:lt2>
      <a:accent1>
        <a:srgbClr val="0E9AA7"/>
      </a:accent1>
      <a:accent2>
        <a:srgbClr val="E4572E"/>
      </a:accent2>
      <a:accent3>
        <a:srgbClr val="F4A259"/>
      </a:accent3>
      <a:accent4>
        <a:srgbClr val="2A9D8F"/>
      </a:accent4>
      <a:accent5>
        <a:srgbClr val="5C6B7A"/>
      </a:accent5>
      <a:accent6>
        <a:srgbClr val="8AB6D6"/>
      </a:accent6>
      <a:hlink>
        <a:srgbClr val="0E9AA7"/>
      </a:hlink>
      <a:folHlink>
        <a:srgbClr val="5C6B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ovaTech DevOps">
  <a:themeElements>
    <a:clrScheme name="NovaTech DevOps">
      <a:dk1>
        <a:srgbClr val="1B2333"/>
      </a:dk1>
      <a:lt1>
        <a:srgbClr val="FFFFFF"/>
      </a:lt1>
      <a:dk2>
        <a:srgbClr val="14213D"/>
      </a:dk2>
      <a:lt2>
        <a:srgbClr val="EEF2F6"/>
      </a:lt2>
      <a:accent1>
        <a:srgbClr val="0E9AA7"/>
      </a:accent1>
      <a:accent2>
        <a:srgbClr val="E4572E"/>
      </a:accent2>
      <a:accent3>
        <a:srgbClr val="F4A259"/>
      </a:accent3>
      <a:accent4>
        <a:srgbClr val="2A9D8F"/>
      </a:accent4>
      <a:accent5>
        <a:srgbClr val="5C6B7A"/>
      </a:accent5>
      <a:accent6>
        <a:srgbClr val="8AB6D6"/>
      </a:accent6>
      <a:hlink>
        <a:srgbClr val="0E9AA7"/>
      </a:hlink>
      <a:folHlink>
        <a:srgbClr val="5C6B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2026-10-22T09:21:59Z</dcterms:created>
  <dc:creator>GroupeHuitre</dc:creator>
</cp:coreProperties>
</file>